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57" r:id="rId4"/>
    <p:sldId id="259" r:id="rId5"/>
    <p:sldId id="260" r:id="rId6"/>
    <p:sldId id="261" r:id="rId7"/>
    <p:sldId id="263" r:id="rId8"/>
    <p:sldId id="265" r:id="rId9"/>
    <p:sldId id="266" r:id="rId10"/>
    <p:sldId id="270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4A1DC-30BC-4A6A-978B-A09A5A36BA91}" v="1" dt="2026-10-08T07:35:38.727"/>
    <p1510:client id="{CF82FC0F-6851-4CD1-8AD3-987B63F22040}" v="3" dt="2026-10-07T09:35:41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paunikar" userId="58a3f9ed557d3d2f" providerId="LiveId" clId="{81EF0257-62C8-4141-A0E3-3662755006DD}"/>
    <pc:docChg chg="custSel addSld delSld modSld">
      <pc:chgData name="mohan paunikar" userId="58a3f9ed557d3d2f" providerId="LiveId" clId="{81EF0257-62C8-4141-A0E3-3662755006DD}" dt="2026-10-08T07:35:38.711" v="71"/>
      <pc:docMkLst>
        <pc:docMk/>
      </pc:docMkLst>
      <pc:sldChg chg="modSp mod">
        <pc:chgData name="mohan paunikar" userId="58a3f9ed557d3d2f" providerId="LiveId" clId="{81EF0257-62C8-4141-A0E3-3662755006DD}" dt="2026-09-26T06:11:05.079" v="12" actId="1076"/>
        <pc:sldMkLst>
          <pc:docMk/>
          <pc:sldMk cId="0" sldId="256"/>
        </pc:sldMkLst>
        <pc:spChg chg="mod">
          <ac:chgData name="mohan paunikar" userId="58a3f9ed557d3d2f" providerId="LiveId" clId="{81EF0257-62C8-4141-A0E3-3662755006DD}" dt="2026-09-26T06:11:05.079" v="12" actId="1076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08:16.339" v="4" actId="1076"/>
        <pc:sldMkLst>
          <pc:docMk/>
          <pc:sldMk cId="0" sldId="259"/>
        </pc:sldMkLst>
        <pc:spChg chg="mod">
          <ac:chgData name="mohan paunikar" userId="58a3f9ed557d3d2f" providerId="LiveId" clId="{81EF0257-62C8-4141-A0E3-3662755006DD}" dt="2026-09-26T06:07:50.757" v="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8:08.961" v="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7:58.085" v="1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8:16.339" v="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8:01.795" v="2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13:07.542" v="14" actId="14100"/>
        <pc:sldMkLst>
          <pc:docMk/>
          <pc:sldMk cId="0" sldId="260"/>
        </pc:sldMkLst>
        <pc:spChg chg="mod">
          <ac:chgData name="mohan paunikar" userId="58a3f9ed557d3d2f" providerId="LiveId" clId="{81EF0257-62C8-4141-A0E3-3662755006DD}" dt="2026-09-26T06:13:07.542" v="14" actId="14100"/>
          <ac:spMkLst>
            <pc:docMk/>
            <pc:sldMk cId="0" sldId="260"/>
            <ac:spMk id="47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12:57.358" v="13" actId="14100"/>
        <pc:sldMkLst>
          <pc:docMk/>
          <pc:sldMk cId="0" sldId="261"/>
        </pc:sldMkLst>
        <pc:spChg chg="mod">
          <ac:chgData name="mohan paunikar" userId="58a3f9ed557d3d2f" providerId="LiveId" clId="{81EF0257-62C8-4141-A0E3-3662755006DD}" dt="2026-09-26T06:12:57.358" v="13" actId="14100"/>
          <ac:spMkLst>
            <pc:docMk/>
            <pc:sldMk cId="0" sldId="261"/>
            <ac:spMk id="31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13:27.521" v="19" actId="14100"/>
        <pc:sldMkLst>
          <pc:docMk/>
          <pc:sldMk cId="0" sldId="263"/>
        </pc:sldMkLst>
        <pc:spChg chg="mod">
          <ac:chgData name="mohan paunikar" userId="58a3f9ed557d3d2f" providerId="LiveId" clId="{81EF0257-62C8-4141-A0E3-3662755006DD}" dt="2026-09-26T06:13:13.411" v="15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16.173" v="16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20.145" v="17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24.163" v="18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27.521" v="19" actId="14100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13:49.650" v="22" actId="14100"/>
        <pc:sldMkLst>
          <pc:docMk/>
          <pc:sldMk cId="0" sldId="265"/>
        </pc:sldMkLst>
        <pc:spChg chg="mod">
          <ac:chgData name="mohan paunikar" userId="58a3f9ed557d3d2f" providerId="LiveId" clId="{81EF0257-62C8-4141-A0E3-3662755006DD}" dt="2026-09-26T06:13:44.745" v="21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49.650" v="22" actId="14100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mohan paunikar" userId="58a3f9ed557d3d2f" providerId="LiveId" clId="{81EF0257-62C8-4141-A0E3-3662755006DD}" dt="2026-09-26T06:14:06.695" v="26" actId="14100"/>
        <pc:sldMkLst>
          <pc:docMk/>
          <pc:sldMk cId="0" sldId="266"/>
        </pc:sldMkLst>
        <pc:spChg chg="mod">
          <ac:chgData name="mohan paunikar" userId="58a3f9ed557d3d2f" providerId="LiveId" clId="{81EF0257-62C8-4141-A0E3-3662755006DD}" dt="2026-09-26T06:13:56.440" v="23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3:59.548" v="24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4:02.321" v="25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4:06.695" v="26" actId="14100"/>
          <ac:spMkLst>
            <pc:docMk/>
            <pc:sldMk cId="0" sldId="266"/>
            <ac:spMk id="22" creationId="{00000000-0000-0000-0000-000000000000}"/>
          </ac:spMkLst>
        </pc:spChg>
      </pc:sldChg>
      <pc:sldChg chg="addSp delSp modSp mod">
        <pc:chgData name="mohan paunikar" userId="58a3f9ed557d3d2f" providerId="LiveId" clId="{81EF0257-62C8-4141-A0E3-3662755006DD}" dt="2026-09-26T06:14:55.596" v="32" actId="1076"/>
        <pc:sldMkLst>
          <pc:docMk/>
          <pc:sldMk cId="0" sldId="269"/>
        </pc:sldMkLst>
        <pc:spChg chg="mod">
          <ac:chgData name="mohan paunikar" userId="58a3f9ed557d3d2f" providerId="LiveId" clId="{81EF0257-62C8-4141-A0E3-3662755006DD}" dt="2026-09-26T06:08:57.009" v="8" actId="2057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14:55.596" v="32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9:01.450" v="10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mohan paunikar" userId="58a3f9ed557d3d2f" providerId="LiveId" clId="{81EF0257-62C8-4141-A0E3-3662755006DD}" dt="2026-09-26T06:09:44.938" v="11" actId="14100"/>
          <ac:spMkLst>
            <pc:docMk/>
            <pc:sldMk cId="0" sldId="269"/>
            <ac:spMk id="22" creationId="{00000000-0000-0000-0000-000000000000}"/>
          </ac:spMkLst>
        </pc:spChg>
      </pc:sldChg>
      <pc:sldChg chg="delSp modSp add del mod setBg">
        <pc:chgData name="mohan paunikar" userId="58a3f9ed557d3d2f" providerId="LiveId" clId="{81EF0257-62C8-4141-A0E3-3662755006DD}" dt="2026-10-07T09:36:35.863" v="68" actId="47"/>
        <pc:sldMkLst>
          <pc:docMk/>
          <pc:sldMk cId="333976945" sldId="270"/>
        </pc:sldMkLst>
        <pc:spChg chg="del">
          <ac:chgData name="mohan paunikar" userId="58a3f9ed557d3d2f" providerId="LiveId" clId="{81EF0257-62C8-4141-A0E3-3662755006DD}" dt="2026-10-07T09:32:16.793" v="35" actId="478"/>
          <ac:spMkLst>
            <pc:docMk/>
            <pc:sldMk cId="333976945" sldId="270"/>
            <ac:spMk id="2" creationId="{B1C35123-B719-DE13-9142-2718F7BFF089}"/>
          </ac:spMkLst>
        </pc:spChg>
        <pc:spChg chg="mod">
          <ac:chgData name="mohan paunikar" userId="58a3f9ed557d3d2f" providerId="LiveId" clId="{81EF0257-62C8-4141-A0E3-3662755006DD}" dt="2026-10-07T09:35:39.578" v="67"/>
          <ac:spMkLst>
            <pc:docMk/>
            <pc:sldMk cId="333976945" sldId="270"/>
            <ac:spMk id="4" creationId="{D54898A0-4165-2E3A-1428-F156F29D8685}"/>
          </ac:spMkLst>
        </pc:spChg>
        <pc:spChg chg="del">
          <ac:chgData name="mohan paunikar" userId="58a3f9ed557d3d2f" providerId="LiveId" clId="{81EF0257-62C8-4141-A0E3-3662755006DD}" dt="2026-10-07T09:32:43.299" v="40" actId="478"/>
          <ac:spMkLst>
            <pc:docMk/>
            <pc:sldMk cId="333976945" sldId="270"/>
            <ac:spMk id="5" creationId="{D9C3190D-1288-947D-1B7D-B620849252DE}"/>
          </ac:spMkLst>
        </pc:spChg>
        <pc:spChg chg="mod">
          <ac:chgData name="mohan paunikar" userId="58a3f9ed557d3d2f" providerId="LiveId" clId="{81EF0257-62C8-4141-A0E3-3662755006DD}" dt="2026-10-07T09:35:06.867" v="66" actId="20577"/>
          <ac:spMkLst>
            <pc:docMk/>
            <pc:sldMk cId="333976945" sldId="270"/>
            <ac:spMk id="6" creationId="{E81E42E9-7514-F483-6166-D4A39E95EE56}"/>
          </ac:spMkLst>
        </pc:spChg>
        <pc:spChg chg="del mod">
          <ac:chgData name="mohan paunikar" userId="58a3f9ed557d3d2f" providerId="LiveId" clId="{81EF0257-62C8-4141-A0E3-3662755006DD}" dt="2026-10-07T09:32:51.248" v="42" actId="478"/>
          <ac:spMkLst>
            <pc:docMk/>
            <pc:sldMk cId="333976945" sldId="270"/>
            <ac:spMk id="7" creationId="{77092466-B8A3-BBE8-9208-9D4B9F6BC658}"/>
          </ac:spMkLst>
        </pc:spChg>
        <pc:spChg chg="del">
          <ac:chgData name="mohan paunikar" userId="58a3f9ed557d3d2f" providerId="LiveId" clId="{81EF0257-62C8-4141-A0E3-3662755006DD}" dt="2026-10-07T09:32:54.372" v="44" actId="478"/>
          <ac:spMkLst>
            <pc:docMk/>
            <pc:sldMk cId="333976945" sldId="270"/>
            <ac:spMk id="8" creationId="{B902EA49-360B-8A95-7533-370AF097B95B}"/>
          </ac:spMkLst>
        </pc:spChg>
        <pc:spChg chg="del">
          <ac:chgData name="mohan paunikar" userId="58a3f9ed557d3d2f" providerId="LiveId" clId="{81EF0257-62C8-4141-A0E3-3662755006DD}" dt="2026-10-07T09:32:53.027" v="43" actId="478"/>
          <ac:spMkLst>
            <pc:docMk/>
            <pc:sldMk cId="333976945" sldId="270"/>
            <ac:spMk id="9" creationId="{8D8F3659-31EA-B705-8BF3-392724F9E707}"/>
          </ac:spMkLst>
        </pc:spChg>
        <pc:spChg chg="del mod">
          <ac:chgData name="mohan paunikar" userId="58a3f9ed557d3d2f" providerId="LiveId" clId="{81EF0257-62C8-4141-A0E3-3662755006DD}" dt="2026-10-07T09:33:03.276" v="46" actId="21"/>
          <ac:spMkLst>
            <pc:docMk/>
            <pc:sldMk cId="333976945" sldId="270"/>
            <ac:spMk id="10" creationId="{E5EA5A33-17ED-9045-9D10-0FE84C82BBC5}"/>
          </ac:spMkLst>
        </pc:spChg>
        <pc:spChg chg="del">
          <ac:chgData name="mohan paunikar" userId="58a3f9ed557d3d2f" providerId="LiveId" clId="{81EF0257-62C8-4141-A0E3-3662755006DD}" dt="2026-10-07T09:33:07.412" v="47" actId="478"/>
          <ac:spMkLst>
            <pc:docMk/>
            <pc:sldMk cId="333976945" sldId="270"/>
            <ac:spMk id="11" creationId="{09E27670-7E19-90CB-ED72-11DA0BBF65B8}"/>
          </ac:spMkLst>
        </pc:spChg>
        <pc:spChg chg="del">
          <ac:chgData name="mohan paunikar" userId="58a3f9ed557d3d2f" providerId="LiveId" clId="{81EF0257-62C8-4141-A0E3-3662755006DD}" dt="2026-10-07T09:33:14.429" v="49" actId="478"/>
          <ac:spMkLst>
            <pc:docMk/>
            <pc:sldMk cId="333976945" sldId="270"/>
            <ac:spMk id="12" creationId="{18E01A9E-E227-4B56-854D-3674AD5780AF}"/>
          </ac:spMkLst>
        </pc:spChg>
        <pc:spChg chg="del">
          <ac:chgData name="mohan paunikar" userId="58a3f9ed557d3d2f" providerId="LiveId" clId="{81EF0257-62C8-4141-A0E3-3662755006DD}" dt="2026-10-07T09:33:10.286" v="48" actId="478"/>
          <ac:spMkLst>
            <pc:docMk/>
            <pc:sldMk cId="333976945" sldId="270"/>
            <ac:spMk id="13" creationId="{5B58F6FA-DDA3-498C-6DFA-8FBB26DBF971}"/>
          </ac:spMkLst>
        </pc:spChg>
        <pc:spChg chg="del">
          <ac:chgData name="mohan paunikar" userId="58a3f9ed557d3d2f" providerId="LiveId" clId="{81EF0257-62C8-4141-A0E3-3662755006DD}" dt="2026-10-07T09:33:56.046" v="53" actId="478"/>
          <ac:spMkLst>
            <pc:docMk/>
            <pc:sldMk cId="333976945" sldId="270"/>
            <ac:spMk id="14" creationId="{65EDEC94-C064-4931-C86A-FED2BADD8530}"/>
          </ac:spMkLst>
        </pc:spChg>
        <pc:spChg chg="del mod">
          <ac:chgData name="mohan paunikar" userId="58a3f9ed557d3d2f" providerId="LiveId" clId="{81EF0257-62C8-4141-A0E3-3662755006DD}" dt="2026-10-07T09:33:46.452" v="52" actId="478"/>
          <ac:spMkLst>
            <pc:docMk/>
            <pc:sldMk cId="333976945" sldId="270"/>
            <ac:spMk id="15" creationId="{BB1F2A36-ED85-2B2D-CF5E-9C31C49A0A54}"/>
          </ac:spMkLst>
        </pc:spChg>
        <pc:spChg chg="del">
          <ac:chgData name="mohan paunikar" userId="58a3f9ed557d3d2f" providerId="LiveId" clId="{81EF0257-62C8-4141-A0E3-3662755006DD}" dt="2026-10-07T09:34:07.114" v="55" actId="478"/>
          <ac:spMkLst>
            <pc:docMk/>
            <pc:sldMk cId="333976945" sldId="270"/>
            <ac:spMk id="16" creationId="{E11B2236-BB24-B692-6ED6-F3D4C715E40B}"/>
          </ac:spMkLst>
        </pc:spChg>
        <pc:spChg chg="del">
          <ac:chgData name="mohan paunikar" userId="58a3f9ed557d3d2f" providerId="LiveId" clId="{81EF0257-62C8-4141-A0E3-3662755006DD}" dt="2026-10-07T09:33:59.427" v="54" actId="478"/>
          <ac:spMkLst>
            <pc:docMk/>
            <pc:sldMk cId="333976945" sldId="270"/>
            <ac:spMk id="17" creationId="{CD0E19C3-A486-4DEE-CB86-217F14FBE238}"/>
          </ac:spMkLst>
        </pc:spChg>
        <pc:spChg chg="del">
          <ac:chgData name="mohan paunikar" userId="58a3f9ed557d3d2f" providerId="LiveId" clId="{81EF0257-62C8-4141-A0E3-3662755006DD}" dt="2026-10-07T09:34:10.687" v="56" actId="478"/>
          <ac:spMkLst>
            <pc:docMk/>
            <pc:sldMk cId="333976945" sldId="270"/>
            <ac:spMk id="18" creationId="{1FACA46A-A374-957A-FF82-99C99328A59A}"/>
          </ac:spMkLst>
        </pc:spChg>
        <pc:spChg chg="del mod">
          <ac:chgData name="mohan paunikar" userId="58a3f9ed557d3d2f" providerId="LiveId" clId="{81EF0257-62C8-4141-A0E3-3662755006DD}" dt="2026-10-07T09:34:19.561" v="58" actId="478"/>
          <ac:spMkLst>
            <pc:docMk/>
            <pc:sldMk cId="333976945" sldId="270"/>
            <ac:spMk id="19" creationId="{4A81002D-C5B0-CB5B-1B56-99BF11CFF08A}"/>
          </ac:spMkLst>
        </pc:spChg>
      </pc:sldChg>
      <pc:sldChg chg="add setBg">
        <pc:chgData name="mohan paunikar" userId="58a3f9ed557d3d2f" providerId="LiveId" clId="{81EF0257-62C8-4141-A0E3-3662755006DD}" dt="2026-10-08T07:35:38.711" v="71"/>
        <pc:sldMkLst>
          <pc:docMk/>
          <pc:sldMk cId="783018082" sldId="271"/>
        </pc:sldMkLst>
      </pc:sldChg>
      <pc:sldChg chg="new del">
        <pc:chgData name="mohan paunikar" userId="58a3f9ed557d3d2f" providerId="LiveId" clId="{81EF0257-62C8-4141-A0E3-3662755006DD}" dt="2026-10-07T09:51:46.170" v="70" actId="47"/>
        <pc:sldMkLst>
          <pc:docMk/>
          <pc:sldMk cId="1310121985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Solver candidates (log scale)</c:v>
                </c:pt>
              </c:strCache>
            </c:strRef>
          </c:tx>
          <c:spPr>
            <a:ln w="38100" cap="flat">
              <a:solidFill>
                <a:srgbClr val="B34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34600"/>
              </a:solidFill>
              <a:ln w="9525" cap="flat">
                <a:solidFill>
                  <a:srgbClr val="B346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80-4D12-8DFC-5C3DA6812E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Verifier checks  O(n²)</c:v>
                </c:pt>
              </c:strCache>
            </c:strRef>
          </c:tx>
          <c:spPr>
            <a:ln w="38100" cap="flat">
              <a:solidFill>
                <a:srgbClr val="F7C8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C873"/>
              </a:solidFill>
              <a:ln w="9525" cap="flat">
                <a:solidFill>
                  <a:srgbClr val="F7C87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80-4D12-8DFC-5C3DA6812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BFB2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C9BFB2"/>
                    </a:solidFill>
                    <a:latin typeface="Arial"/>
                  </a:rPr>
                  <a:t>vertices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32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BF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BFB2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C9BFB2"/>
                    </a:solidFill>
                    <a:latin typeface="Arial"/>
                  </a:rPr>
                  <a:t>operations (log)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332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1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63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480F-39A1-0191-89A9-6F430EDA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61508-4476-C488-065B-FF1DC06A5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A9AA8-B0AD-AA86-A7C6-0B3F1717F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93319-3FA4-E8B7-17F5-D8347D787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90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anavcm24032.github.io/clique-vertex_Verfier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418320" y="914400"/>
            <a:ext cx="146304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914400"/>
            <a:ext cx="640080" cy="11887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332720" y="2103120"/>
            <a:ext cx="1188720" cy="5486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1188720"/>
            <a:ext cx="914400" cy="14630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377440"/>
            <a:ext cx="128016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052560" y="1188720"/>
            <a:ext cx="365760" cy="11887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651760"/>
            <a:ext cx="822960" cy="10058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692640" y="3657600"/>
            <a:ext cx="1463040" cy="36576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692640" y="2651760"/>
            <a:ext cx="640080" cy="137160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869680" y="4023360"/>
            <a:ext cx="822960" cy="82296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4846320"/>
            <a:ext cx="173736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5120640"/>
            <a:ext cx="100584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607040" y="3657600"/>
            <a:ext cx="548640" cy="14630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4023360"/>
            <a:ext cx="914400" cy="109728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0" y="2651760"/>
            <a:ext cx="822960" cy="100584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692640" y="3657600"/>
            <a:ext cx="1463040" cy="3657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692640" y="2651760"/>
            <a:ext cx="640080" cy="137160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0972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097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755397" y="82296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0" y="822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0" y="20116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04704" y="252374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0" y="228600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027664" y="352958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27664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64624" y="389534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64624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78240" y="47548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4754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515600" y="502920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5029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521440" y="530352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2144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21408" y="1584338"/>
            <a:ext cx="7955280" cy="198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TAE -1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Seminar 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Clique/Vertex Cover Verifier</a:t>
            </a: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9D2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polynomial-time verification engine for two classic NP-complete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9D2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 problems — Clique and Vertex Cover.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Computation(N-PCCCM503T) 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015740" y="3355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</a:t>
            </a: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CERTIFICATE</a:t>
            </a: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 O(nᵏ)  STEPS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627120" y="4926190"/>
            <a:ext cx="493776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0E0D1D-7C0D-4FA3-A194-D1A6A578E7CD}"/>
              </a:ext>
            </a:extLst>
          </p:cNvPr>
          <p:cNvGrpSpPr/>
          <p:nvPr/>
        </p:nvGrpSpPr>
        <p:grpSpPr>
          <a:xfrm>
            <a:off x="524785" y="4918726"/>
            <a:ext cx="4737680" cy="798604"/>
            <a:chOff x="327396" y="5023274"/>
            <a:chExt cx="3897925" cy="798604"/>
          </a:xfrm>
        </p:grpSpPr>
        <p:sp>
          <p:nvSpPr>
            <p:cNvPr id="42" name="Shape 40"/>
            <p:cNvSpPr/>
            <p:nvPr/>
          </p:nvSpPr>
          <p:spPr>
            <a:xfrm>
              <a:off x="327396" y="5023274"/>
              <a:ext cx="2553695" cy="798604"/>
            </a:xfrm>
            <a:prstGeom prst="roundRect">
              <a:avLst>
                <a:gd name="adj" fmla="val 10909"/>
              </a:avLst>
            </a:prstGeom>
            <a:solidFill>
              <a:srgbClr val="000000">
                <a:alpha val="0"/>
              </a:srgbClr>
            </a:solidFill>
            <a:ln w="15875">
              <a:solidFill>
                <a:srgbClr val="E85D04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476281" y="5174803"/>
              <a:ext cx="2496250" cy="445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PRANAV MOHAN PAUNIKAR</a:t>
              </a:r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USN:CM24032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567721" y="546979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3E157D14-0527-600E-1C79-2FB42A3D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25" y="234653"/>
            <a:ext cx="5944115" cy="993734"/>
          </a:xfrm>
          <a:prstGeom prst="rect">
            <a:avLst/>
          </a:prstGeom>
        </p:spPr>
      </p:pic>
      <p:sp>
        <p:nvSpPr>
          <p:cNvPr id="55" name="Shape 40">
            <a:extLst>
              <a:ext uri="{FF2B5EF4-FFF2-40B4-BE49-F238E27FC236}">
                <a16:creationId xmlns:a16="http://schemas.microsoft.com/office/drawing/2014/main" id="{2B61A9E8-6960-E834-012E-FE45559D6D4F}"/>
              </a:ext>
            </a:extLst>
          </p:cNvPr>
          <p:cNvSpPr/>
          <p:nvPr/>
        </p:nvSpPr>
        <p:spPr>
          <a:xfrm>
            <a:off x="8876305" y="4937760"/>
            <a:ext cx="2553695" cy="798604"/>
          </a:xfrm>
          <a:prstGeom prst="roundRect">
            <a:avLst>
              <a:gd name="adj" fmla="val 10909"/>
            </a:avLst>
          </a:prstGeom>
          <a:solidFill>
            <a:srgbClr val="000000">
              <a:alpha val="0"/>
            </a:srgbClr>
          </a:solidFill>
          <a:ln w="15875">
            <a:solidFill>
              <a:srgbClr val="E85D04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Rahul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Bambodkar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BBB0C77-CE9B-96F7-A6B0-70A318349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18657">
            <a:off x="326782" y="1398193"/>
            <a:ext cx="2674852" cy="177561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0AC7A2-4C34-E0A3-834C-0A0775C70640}"/>
              </a:ext>
            </a:extLst>
          </p:cNvPr>
          <p:cNvSpPr txBox="1"/>
          <p:nvPr/>
        </p:nvSpPr>
        <p:spPr>
          <a:xfrm>
            <a:off x="2856400" y="5561681"/>
            <a:ext cx="621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chemeClr val="bg1"/>
                </a:solidFill>
                <a:effectLst/>
              </a:rPr>
              <a:t>5th </a:t>
            </a: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IN" sz="1800" b="1" i="0" dirty="0">
                <a:solidFill>
                  <a:schemeClr val="bg1"/>
                </a:solidFill>
                <a:effectLst/>
              </a:rPr>
              <a:t>, Session:2026-27 (ODD )</a:t>
            </a:r>
            <a:endParaRPr lang="en-IN" sz="1800" dirty="0">
              <a:solidFill>
                <a:schemeClr val="bg1"/>
              </a:solidFill>
              <a:effectLst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8EACED-9F65-00A8-26C7-DA2345A2FCC7}"/>
              </a:ext>
            </a:extLst>
          </p:cNvPr>
          <p:cNvSpPr txBox="1"/>
          <p:nvPr/>
        </p:nvSpPr>
        <p:spPr>
          <a:xfrm>
            <a:off x="3012770" y="59034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Emerging Technologies (AI&amp;ML )</a:t>
            </a: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41B7-13FE-9B65-977D-6B263CFA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22D462-7537-D821-2512-C8DA94968891}"/>
              </a:ext>
            </a:extLst>
          </p:cNvPr>
          <p:cNvSpPr/>
          <p:nvPr/>
        </p:nvSpPr>
        <p:spPr>
          <a:xfrm flipV="1">
            <a:off x="9418320" y="914400"/>
            <a:ext cx="146304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F333D0-EE51-99FD-1C19-A1B54DAF29AB}"/>
              </a:ext>
            </a:extLst>
          </p:cNvPr>
          <p:cNvSpPr/>
          <p:nvPr/>
        </p:nvSpPr>
        <p:spPr>
          <a:xfrm>
            <a:off x="10881360" y="914400"/>
            <a:ext cx="640080" cy="11887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6E69EC-EF34-D06D-ABD1-5E05C4D8F470}"/>
              </a:ext>
            </a:extLst>
          </p:cNvPr>
          <p:cNvSpPr/>
          <p:nvPr/>
        </p:nvSpPr>
        <p:spPr>
          <a:xfrm flipV="1">
            <a:off x="10332720" y="2103120"/>
            <a:ext cx="1188720" cy="5486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5D76CF-EE88-7CF2-790F-8D2BEF7CC449}"/>
              </a:ext>
            </a:extLst>
          </p:cNvPr>
          <p:cNvSpPr/>
          <p:nvPr/>
        </p:nvSpPr>
        <p:spPr>
          <a:xfrm>
            <a:off x="9418320" y="1188720"/>
            <a:ext cx="914400" cy="14630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D3394E-CE59-6519-2AF7-56518908C353}"/>
              </a:ext>
            </a:extLst>
          </p:cNvPr>
          <p:cNvSpPr/>
          <p:nvPr/>
        </p:nvSpPr>
        <p:spPr>
          <a:xfrm>
            <a:off x="9052560" y="2377440"/>
            <a:ext cx="128016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BCC0E0-579B-E529-CA08-CDB85ECCCCE6}"/>
              </a:ext>
            </a:extLst>
          </p:cNvPr>
          <p:cNvSpPr/>
          <p:nvPr/>
        </p:nvSpPr>
        <p:spPr>
          <a:xfrm flipV="1">
            <a:off x="9052560" y="1188720"/>
            <a:ext cx="365760" cy="11887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79814BA-6EE8-2B31-5190-E06F96C8AFB1}"/>
              </a:ext>
            </a:extLst>
          </p:cNvPr>
          <p:cNvSpPr/>
          <p:nvPr/>
        </p:nvSpPr>
        <p:spPr>
          <a:xfrm>
            <a:off x="10332720" y="2651760"/>
            <a:ext cx="822960" cy="10058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A68E5A5-EE52-7415-E7DB-F3520FA9A9C8}"/>
              </a:ext>
            </a:extLst>
          </p:cNvPr>
          <p:cNvSpPr/>
          <p:nvPr/>
        </p:nvSpPr>
        <p:spPr>
          <a:xfrm flipV="1">
            <a:off x="9692640" y="3657600"/>
            <a:ext cx="1463040" cy="36576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41253BE-59E1-E378-FC85-EC522F81444A}"/>
              </a:ext>
            </a:extLst>
          </p:cNvPr>
          <p:cNvSpPr/>
          <p:nvPr/>
        </p:nvSpPr>
        <p:spPr>
          <a:xfrm flipV="1">
            <a:off x="9692640" y="2651760"/>
            <a:ext cx="640080" cy="137160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0E0125-FF78-C715-2188-7D1235D7CBA6}"/>
              </a:ext>
            </a:extLst>
          </p:cNvPr>
          <p:cNvSpPr/>
          <p:nvPr/>
        </p:nvSpPr>
        <p:spPr>
          <a:xfrm flipV="1">
            <a:off x="8869680" y="4023360"/>
            <a:ext cx="822960" cy="82296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63CE032-8359-5E19-1FD5-06D78C3EF900}"/>
              </a:ext>
            </a:extLst>
          </p:cNvPr>
          <p:cNvSpPr/>
          <p:nvPr/>
        </p:nvSpPr>
        <p:spPr>
          <a:xfrm>
            <a:off x="8869680" y="4846320"/>
            <a:ext cx="173736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CC7FE6E-2213-FCA0-3D7C-03D214E56105}"/>
              </a:ext>
            </a:extLst>
          </p:cNvPr>
          <p:cNvSpPr/>
          <p:nvPr/>
        </p:nvSpPr>
        <p:spPr>
          <a:xfrm>
            <a:off x="10607040" y="5120640"/>
            <a:ext cx="1005840" cy="27432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D85459-48C5-B1C5-242D-2A83A8701A96}"/>
              </a:ext>
            </a:extLst>
          </p:cNvPr>
          <p:cNvSpPr/>
          <p:nvPr/>
        </p:nvSpPr>
        <p:spPr>
          <a:xfrm flipV="1">
            <a:off x="10607040" y="3657600"/>
            <a:ext cx="548640" cy="146304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65FDD27-8302-A2AC-3505-852BEDB254FE}"/>
              </a:ext>
            </a:extLst>
          </p:cNvPr>
          <p:cNvSpPr/>
          <p:nvPr/>
        </p:nvSpPr>
        <p:spPr>
          <a:xfrm>
            <a:off x="9692640" y="4023360"/>
            <a:ext cx="914400" cy="1097280"/>
          </a:xfrm>
          <a:prstGeom prst="line">
            <a:avLst/>
          </a:prstGeom>
          <a:noFill/>
          <a:ln w="15875">
            <a:solidFill>
              <a:srgbClr val="3A332B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027762-A535-974E-655D-5A5B4967A0B8}"/>
              </a:ext>
            </a:extLst>
          </p:cNvPr>
          <p:cNvSpPr/>
          <p:nvPr/>
        </p:nvSpPr>
        <p:spPr>
          <a:xfrm>
            <a:off x="10332720" y="2651760"/>
            <a:ext cx="822960" cy="100584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70137A-DC7A-6241-D8B0-BF8F89297116}"/>
              </a:ext>
            </a:extLst>
          </p:cNvPr>
          <p:cNvSpPr/>
          <p:nvPr/>
        </p:nvSpPr>
        <p:spPr>
          <a:xfrm flipV="1">
            <a:off x="9692640" y="3657600"/>
            <a:ext cx="1463040" cy="3657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43A5BEF-0207-4AFE-CD29-3813475F3CEC}"/>
              </a:ext>
            </a:extLst>
          </p:cNvPr>
          <p:cNvSpPr/>
          <p:nvPr/>
        </p:nvSpPr>
        <p:spPr>
          <a:xfrm flipV="1">
            <a:off x="9692640" y="2651760"/>
            <a:ext cx="640080" cy="137160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2A6AC07-82C7-D302-7A7D-DB5D832258E8}"/>
              </a:ext>
            </a:extLst>
          </p:cNvPr>
          <p:cNvSpPr/>
          <p:nvPr/>
        </p:nvSpPr>
        <p:spPr>
          <a:xfrm>
            <a:off x="9326880" y="10972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B7F925-FE3E-DDB4-0064-9FBA941495B7}"/>
              </a:ext>
            </a:extLst>
          </p:cNvPr>
          <p:cNvSpPr/>
          <p:nvPr/>
        </p:nvSpPr>
        <p:spPr>
          <a:xfrm>
            <a:off x="9326880" y="1097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3CBB387-03A8-0A96-612C-3CFF6C8523EF}"/>
              </a:ext>
            </a:extLst>
          </p:cNvPr>
          <p:cNvSpPr/>
          <p:nvPr/>
        </p:nvSpPr>
        <p:spPr>
          <a:xfrm>
            <a:off x="10755397" y="82296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3EDC93A-212C-58FF-E97A-2EBDE48130F8}"/>
              </a:ext>
            </a:extLst>
          </p:cNvPr>
          <p:cNvSpPr/>
          <p:nvPr/>
        </p:nvSpPr>
        <p:spPr>
          <a:xfrm>
            <a:off x="10789920" y="822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631DADD-8706-850E-4CD6-80A5A44F43AA}"/>
              </a:ext>
            </a:extLst>
          </p:cNvPr>
          <p:cNvSpPr/>
          <p:nvPr/>
        </p:nvSpPr>
        <p:spPr>
          <a:xfrm>
            <a:off x="11430000" y="20116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AB1A303-FA46-13BC-DD0C-7EF060D3FA51}"/>
              </a:ext>
            </a:extLst>
          </p:cNvPr>
          <p:cNvSpPr/>
          <p:nvPr/>
        </p:nvSpPr>
        <p:spPr>
          <a:xfrm>
            <a:off x="1143000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AC4E590-80AB-D2B8-5D65-797F48FBB6C4}"/>
              </a:ext>
            </a:extLst>
          </p:cNvPr>
          <p:cNvSpPr/>
          <p:nvPr/>
        </p:nvSpPr>
        <p:spPr>
          <a:xfrm>
            <a:off x="10204704" y="252374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7251B45-A926-02B9-98EC-098F80206E33}"/>
              </a:ext>
            </a:extLst>
          </p:cNvPr>
          <p:cNvSpPr/>
          <p:nvPr/>
        </p:nvSpPr>
        <p:spPr>
          <a:xfrm>
            <a:off x="10204704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8DEAB95-A233-64F8-845A-CB09AFFCDDD2}"/>
              </a:ext>
            </a:extLst>
          </p:cNvPr>
          <p:cNvSpPr/>
          <p:nvPr/>
        </p:nvSpPr>
        <p:spPr>
          <a:xfrm>
            <a:off x="8961120" y="228600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66B94ED-F4B8-C6FB-AF59-2012DE98A202}"/>
              </a:ext>
            </a:extLst>
          </p:cNvPr>
          <p:cNvSpPr/>
          <p:nvPr/>
        </p:nvSpPr>
        <p:spPr>
          <a:xfrm>
            <a:off x="8961120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6E26AC1-29C7-7F4E-D9E0-39DA16C4FEBE}"/>
              </a:ext>
            </a:extLst>
          </p:cNvPr>
          <p:cNvSpPr/>
          <p:nvPr/>
        </p:nvSpPr>
        <p:spPr>
          <a:xfrm>
            <a:off x="11027664" y="352958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568FA76-6757-1E45-A669-CB5096F53265}"/>
              </a:ext>
            </a:extLst>
          </p:cNvPr>
          <p:cNvSpPr/>
          <p:nvPr/>
        </p:nvSpPr>
        <p:spPr>
          <a:xfrm>
            <a:off x="11027664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413D3D4-CFB4-E086-09D6-05026E9992BB}"/>
              </a:ext>
            </a:extLst>
          </p:cNvPr>
          <p:cNvSpPr/>
          <p:nvPr/>
        </p:nvSpPr>
        <p:spPr>
          <a:xfrm>
            <a:off x="9564624" y="3895344"/>
            <a:ext cx="256032" cy="256032"/>
          </a:xfrm>
          <a:prstGeom prst="ellipse">
            <a:avLst/>
          </a:prstGeom>
          <a:solidFill>
            <a:srgbClr val="E85D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4F1071D-CF29-3862-0BF8-6E1DF5932EE1}"/>
              </a:ext>
            </a:extLst>
          </p:cNvPr>
          <p:cNvSpPr/>
          <p:nvPr/>
        </p:nvSpPr>
        <p:spPr>
          <a:xfrm>
            <a:off x="9564624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A800364-6655-6D16-B12A-98F7B71FE07F}"/>
              </a:ext>
            </a:extLst>
          </p:cNvPr>
          <p:cNvSpPr/>
          <p:nvPr/>
        </p:nvSpPr>
        <p:spPr>
          <a:xfrm>
            <a:off x="8778240" y="475488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17319E8-0924-E7E3-1EFC-18011EEA5535}"/>
              </a:ext>
            </a:extLst>
          </p:cNvPr>
          <p:cNvSpPr/>
          <p:nvPr/>
        </p:nvSpPr>
        <p:spPr>
          <a:xfrm>
            <a:off x="8778240" y="4754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9F53AE8-2393-52D7-B0F9-EA61B36E1F34}"/>
              </a:ext>
            </a:extLst>
          </p:cNvPr>
          <p:cNvSpPr/>
          <p:nvPr/>
        </p:nvSpPr>
        <p:spPr>
          <a:xfrm>
            <a:off x="10515600" y="502920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B05F124-FCC4-7006-0413-4576473000E9}"/>
              </a:ext>
            </a:extLst>
          </p:cNvPr>
          <p:cNvSpPr/>
          <p:nvPr/>
        </p:nvSpPr>
        <p:spPr>
          <a:xfrm>
            <a:off x="10515600" y="5029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ED96A02-6A0E-EF6F-F19F-71FA2CCCD1B9}"/>
              </a:ext>
            </a:extLst>
          </p:cNvPr>
          <p:cNvSpPr/>
          <p:nvPr/>
        </p:nvSpPr>
        <p:spPr>
          <a:xfrm>
            <a:off x="11521440" y="5303520"/>
            <a:ext cx="182880" cy="182880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747F62B-999B-A516-265B-10CDE5538E60}"/>
              </a:ext>
            </a:extLst>
          </p:cNvPr>
          <p:cNvSpPr/>
          <p:nvPr/>
        </p:nvSpPr>
        <p:spPr>
          <a:xfrm>
            <a:off x="1152144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606D9DE-D3DC-7C2A-CEE1-53AA7880B2BE}"/>
              </a:ext>
            </a:extLst>
          </p:cNvPr>
          <p:cNvSpPr/>
          <p:nvPr/>
        </p:nvSpPr>
        <p:spPr>
          <a:xfrm>
            <a:off x="2121408" y="1584338"/>
            <a:ext cx="7955280" cy="198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TAE -1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Seminar 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Clique/Vertex Cover Verifier</a:t>
            </a: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9D2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polynomial-time verification engine for two classic NP-complete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9D2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 problems — Clique and Vertex Cover.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Computation(N-PCCCM503T) 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1FDAD58-E13D-2350-A553-08F155139968}"/>
              </a:ext>
            </a:extLst>
          </p:cNvPr>
          <p:cNvSpPr/>
          <p:nvPr/>
        </p:nvSpPr>
        <p:spPr>
          <a:xfrm>
            <a:off x="4015740" y="3355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</a:t>
            </a: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CERTIFICATE</a:t>
            </a:r>
            <a:r>
              <a:rPr lang="en-US" sz="1300" b="1" kern="0" spc="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 O(nᵏ)  STEPS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F5806EC-A5B1-1AA3-96B0-C9C242CD7A30}"/>
              </a:ext>
            </a:extLst>
          </p:cNvPr>
          <p:cNvSpPr/>
          <p:nvPr/>
        </p:nvSpPr>
        <p:spPr>
          <a:xfrm>
            <a:off x="3627120" y="4926190"/>
            <a:ext cx="493776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D80DB01-F809-05C3-E9A0-23C79C8E8BAB}"/>
              </a:ext>
            </a:extLst>
          </p:cNvPr>
          <p:cNvGrpSpPr/>
          <p:nvPr/>
        </p:nvGrpSpPr>
        <p:grpSpPr>
          <a:xfrm>
            <a:off x="524785" y="4918726"/>
            <a:ext cx="4737680" cy="798604"/>
            <a:chOff x="327396" y="5023274"/>
            <a:chExt cx="3897925" cy="798604"/>
          </a:xfrm>
        </p:grpSpPr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23B7D973-77AC-CF58-EED0-BC6377B15694}"/>
                </a:ext>
              </a:extLst>
            </p:cNvPr>
            <p:cNvSpPr/>
            <p:nvPr/>
          </p:nvSpPr>
          <p:spPr>
            <a:xfrm>
              <a:off x="327396" y="5023274"/>
              <a:ext cx="2553695" cy="798604"/>
            </a:xfrm>
            <a:prstGeom prst="roundRect">
              <a:avLst>
                <a:gd name="adj" fmla="val 10909"/>
              </a:avLst>
            </a:prstGeom>
            <a:solidFill>
              <a:srgbClr val="000000">
                <a:alpha val="0"/>
              </a:srgbClr>
            </a:solidFill>
            <a:ln w="15875">
              <a:solidFill>
                <a:srgbClr val="E85D04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4179AB3F-0909-57FD-115A-645A22B0F612}"/>
                </a:ext>
              </a:extLst>
            </p:cNvPr>
            <p:cNvSpPr/>
            <p:nvPr/>
          </p:nvSpPr>
          <p:spPr>
            <a:xfrm>
              <a:off x="476281" y="5174803"/>
              <a:ext cx="2496250" cy="445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PRANAV MOHAN PAUNIKAR</a:t>
              </a:r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USN:CM24032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AE3515EE-0A07-3AA0-19AE-9DB20BCAD01E}"/>
                </a:ext>
              </a:extLst>
            </p:cNvPr>
            <p:cNvSpPr/>
            <p:nvPr/>
          </p:nvSpPr>
          <p:spPr>
            <a:xfrm>
              <a:off x="567721" y="546979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345840AC-89E7-AD1E-4601-0426A13A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25" y="234653"/>
            <a:ext cx="5944115" cy="993734"/>
          </a:xfrm>
          <a:prstGeom prst="rect">
            <a:avLst/>
          </a:prstGeom>
        </p:spPr>
      </p:pic>
      <p:sp>
        <p:nvSpPr>
          <p:cNvPr id="55" name="Shape 40">
            <a:extLst>
              <a:ext uri="{FF2B5EF4-FFF2-40B4-BE49-F238E27FC236}">
                <a16:creationId xmlns:a16="http://schemas.microsoft.com/office/drawing/2014/main" id="{428D2C59-669F-073B-3166-6C2B69081B67}"/>
              </a:ext>
            </a:extLst>
          </p:cNvPr>
          <p:cNvSpPr/>
          <p:nvPr/>
        </p:nvSpPr>
        <p:spPr>
          <a:xfrm>
            <a:off x="8876305" y="4937760"/>
            <a:ext cx="2553695" cy="798604"/>
          </a:xfrm>
          <a:prstGeom prst="roundRect">
            <a:avLst>
              <a:gd name="adj" fmla="val 10909"/>
            </a:avLst>
          </a:prstGeom>
          <a:solidFill>
            <a:srgbClr val="000000">
              <a:alpha val="0"/>
            </a:srgbClr>
          </a:solidFill>
          <a:ln w="15875">
            <a:solidFill>
              <a:srgbClr val="E85D04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Rahul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Bambodkar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4B3784B-0802-0D5F-8316-9BAEFB494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18657">
            <a:off x="326782" y="1398193"/>
            <a:ext cx="2674852" cy="177561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98F7AD1-4F84-BAD3-A740-C746706418E7}"/>
              </a:ext>
            </a:extLst>
          </p:cNvPr>
          <p:cNvSpPr txBox="1"/>
          <p:nvPr/>
        </p:nvSpPr>
        <p:spPr>
          <a:xfrm>
            <a:off x="2856400" y="5561681"/>
            <a:ext cx="621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chemeClr val="bg1"/>
                </a:solidFill>
                <a:effectLst/>
              </a:rPr>
              <a:t>5th </a:t>
            </a: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IN" sz="1800" b="1" i="0" dirty="0">
                <a:solidFill>
                  <a:schemeClr val="bg1"/>
                </a:solidFill>
                <a:effectLst/>
              </a:rPr>
              <a:t>, Session:2026-27 (ODD )</a:t>
            </a:r>
            <a:endParaRPr lang="en-IN" sz="1800" dirty="0">
              <a:solidFill>
                <a:schemeClr val="bg1"/>
              </a:solidFill>
              <a:effectLst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893D67-3D25-F286-D926-57F7DC1A596B}"/>
              </a:ext>
            </a:extLst>
          </p:cNvPr>
          <p:cNvSpPr txBox="1"/>
          <p:nvPr/>
        </p:nvSpPr>
        <p:spPr>
          <a:xfrm>
            <a:off x="3012770" y="59034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Emerging Technologies (AI&amp;ML )</a:t>
            </a: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1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b="1" kern="0" spc="100" dirty="0">
                <a:solidFill>
                  <a:srgbClr val="E85D0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BIG</a:t>
            </a: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21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Solving is hard. Checking is easy.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4121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86100" y="2834640"/>
            <a:ext cx="777240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63340" y="3401568"/>
            <a:ext cx="747522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0862" y="3968496"/>
            <a:ext cx="731177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879685" y="3968496"/>
            <a:ext cx="731177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115818" y="3401568"/>
            <a:ext cx="747522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024721" y="3968496"/>
            <a:ext cx="91097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5818" y="3968496"/>
            <a:ext cx="91097" cy="566928"/>
          </a:xfrm>
          <a:prstGeom prst="line">
            <a:avLst/>
          </a:prstGeom>
          <a:noFill/>
          <a:ln w="19050">
            <a:solidFill>
              <a:srgbClr val="5A5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3804" y="2752344"/>
            <a:ext cx="164592" cy="164592"/>
          </a:xfrm>
          <a:prstGeom prst="ellipse">
            <a:avLst/>
          </a:prstGeom>
          <a:solidFill>
            <a:srgbClr val="B34600"/>
          </a:solidFill>
          <a:ln w="22225">
            <a:solidFill>
              <a:srgbClr val="B34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3804" y="27523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7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Exponentially</a:t>
            </a:r>
            <a:r>
              <a:rPr lang="en-US" sz="13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possibilities to try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FE8D1"/>
          </a:solidFill>
          <a:ln w="15875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03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346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CHECKING</a:t>
            </a:r>
            <a:r>
              <a:rPr lang="en-US" sz="1300" b="1" kern="0" spc="100" dirty="0">
                <a:solidFill>
                  <a:srgbClr val="B3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ANSWER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75420" y="2880360"/>
            <a:ext cx="914" cy="1234440"/>
          </a:xfrm>
          <a:prstGeom prst="line">
            <a:avLst/>
          </a:prstGeom>
          <a:noFill/>
          <a:ln w="38100">
            <a:solidFill>
              <a:srgbClr val="B34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3980" y="2788920"/>
            <a:ext cx="182880" cy="182880"/>
          </a:xfrm>
          <a:prstGeom prst="ellipse">
            <a:avLst/>
          </a:prstGeom>
          <a:solidFill>
            <a:srgbClr val="B34600"/>
          </a:solidFill>
          <a:ln w="22225">
            <a:solidFill>
              <a:srgbClr val="B34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8398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91372" y="3730752"/>
            <a:ext cx="768096" cy="768096"/>
          </a:xfrm>
          <a:prstGeom prst="ellipse">
            <a:avLst/>
          </a:prstGeom>
          <a:solidFill>
            <a:srgbClr val="2F7D32"/>
          </a:solidFill>
          <a:ln w="12700">
            <a:solidFill>
              <a:srgbClr val="1412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91372" y="37307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12280" y="52120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3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candidate. One pass. Done.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CLASSES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Clique &amp; Vertex Cover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608" y="1728216"/>
            <a:ext cx="5669280" cy="4754880"/>
          </a:xfrm>
          <a:prstGeom prst="ellipse">
            <a:avLst/>
          </a:prstGeom>
          <a:solidFill>
            <a:srgbClr val="241E18"/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5608" y="27294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38435" y="26474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checkable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polynomial time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3200400"/>
            <a:ext cx="2377440" cy="2011680"/>
          </a:xfrm>
          <a:prstGeom prst="ellipse">
            <a:avLst/>
          </a:prstGeom>
          <a:solidFill>
            <a:srgbClr val="3A2E1C"/>
          </a:solidFill>
          <a:ln w="22225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362886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358314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found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poly. time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2651760"/>
            <a:ext cx="2148840" cy="2148840"/>
          </a:xfrm>
          <a:prstGeom prst="ellipse">
            <a:avLst/>
          </a:prstGeom>
          <a:solidFill>
            <a:srgbClr val="E85D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880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</a:t>
            </a:r>
            <a:endParaRPr lang="en-US" sz="8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NP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489204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5074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Clique &amp; Vertex Cover sit here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FB9A8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9912" y="1728216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2075688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 computer can both SOLVE and CHECK quickly.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0" y="30815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9912" y="3026664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9912" y="3374136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 computer can CHECK quickly — solving them may be hard.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43799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85D04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39912" y="4325112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NP-Complete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39912" y="4672584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NP problems. If one falls in polynomial time, they all do.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 — a fully-connected huddle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k-clique is a set of k vertices where every single pair is joined by an edge — a tiny, tightly-knit friend group inside a bigger network.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 flipV="1">
            <a:off x="7863840" y="1737360"/>
            <a:ext cx="1463040" cy="27432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737360"/>
            <a:ext cx="1188720" cy="9144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49840" y="2651760"/>
            <a:ext cx="365760" cy="128016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686800" y="3931920"/>
            <a:ext cx="1463040" cy="27432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3383280"/>
            <a:ext cx="1280160" cy="82296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406640" y="2011680"/>
            <a:ext cx="457200" cy="13716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011680"/>
            <a:ext cx="914400" cy="4572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778240" y="1737360"/>
            <a:ext cx="548640" cy="73152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052560" y="1737360"/>
            <a:ext cx="274320" cy="128016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2468880"/>
            <a:ext cx="274320" cy="54864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3017520"/>
            <a:ext cx="822960" cy="27432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0" y="3291840"/>
            <a:ext cx="274320" cy="64008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686800" y="3017520"/>
            <a:ext cx="365760" cy="118872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468880"/>
            <a:ext cx="274320" cy="54864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017520"/>
            <a:ext cx="1097280" cy="9144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686800" y="3291840"/>
            <a:ext cx="1188720" cy="9144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686800" y="3931920"/>
            <a:ext cx="1463040" cy="27432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3017520"/>
            <a:ext cx="1097280" cy="91440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3291840"/>
            <a:ext cx="274320" cy="64008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686800" y="3017520"/>
            <a:ext cx="365760" cy="118872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686800" y="3291840"/>
            <a:ext cx="1188720" cy="91440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3017520"/>
            <a:ext cx="822960" cy="274320"/>
          </a:xfrm>
          <a:prstGeom prst="line">
            <a:avLst/>
          </a:prstGeom>
          <a:noFill/>
          <a:ln w="44450">
            <a:solidFill>
              <a:srgbClr val="E85D0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07808" y="175564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70848" y="148132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259568" y="239572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595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93808" y="367588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30768" y="395020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50608" y="312724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796528" y="276148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9652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19488" y="303580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1948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22208" y="221284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2220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15200" y="48920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FE8D1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4892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3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a 4-clique  {4, 5, 7, 8}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2743200"/>
            <a:ext cx="5577840" cy="1828800"/>
          </a:xfrm>
          <a:prstGeom prst="roundRect">
            <a:avLst>
              <a:gd name="adj" fmla="val 29510"/>
            </a:avLst>
          </a:prstGeom>
          <a:solidFill>
            <a:srgbClr val="141210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QUESTION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22960" y="3337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graph G and number k — does G contain a clique of size k?”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548640" y="4754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NP-Complete — no known shortcut beats trying combinations.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 Cover — guarding every 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vertex cover of size k is a set of k vertices that together touch every single edge in the graph — like posting guards so no connecting road is left unwatched.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 flipV="1">
            <a:off x="7955280" y="1828800"/>
            <a:ext cx="1463040" cy="18288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828800"/>
            <a:ext cx="1188720" cy="82296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058400" y="2651760"/>
            <a:ext cx="548640" cy="137160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595360" y="4023360"/>
            <a:ext cx="1463040" cy="18288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3291840"/>
            <a:ext cx="1188720" cy="914400"/>
          </a:xfrm>
          <a:prstGeom prst="line">
            <a:avLst/>
          </a:prstGeom>
          <a:noFill/>
          <a:ln w="25400">
            <a:solidFill>
              <a:srgbClr val="E2D9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406640" y="2011680"/>
            <a:ext cx="548640" cy="128016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2011680"/>
            <a:ext cx="1005840" cy="100584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961120" y="1828800"/>
            <a:ext cx="457200" cy="118872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3017520"/>
            <a:ext cx="1097280" cy="100584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595360" y="3017520"/>
            <a:ext cx="365760" cy="118872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9248" y="175564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62288" y="157276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51008" y="239572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5100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02368" y="376732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39328" y="395020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50608" y="3035808"/>
            <a:ext cx="512064" cy="512064"/>
          </a:xfrm>
          <a:prstGeom prst="ellipse">
            <a:avLst/>
          </a:prstGeom>
          <a:solidFill>
            <a:srgbClr val="141210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05088" y="2761488"/>
            <a:ext cx="512064" cy="51206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1412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8920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FE8D1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892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3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cover of size 3  {1, 4, 7}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5577840" cy="1828800"/>
          </a:xfrm>
          <a:prstGeom prst="roundRect">
            <a:avLst>
              <a:gd name="adj" fmla="val 30020"/>
            </a:avLst>
          </a:prstGeom>
          <a:solidFill>
            <a:srgbClr val="14121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QUESTION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3474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graph G and number k — is there a set of k vertices touching every edge?”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NP-Complete — and closely related to Clique on the same graph.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MACHINE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verifier works,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377440" cy="822960"/>
          </a:xfrm>
          <a:prstGeom prst="roundRect">
            <a:avLst>
              <a:gd name="adj" fmla="val 23651"/>
            </a:avLst>
          </a:prstGeom>
          <a:solidFill>
            <a:srgbClr val="14121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 + 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377440" cy="822960"/>
          </a:xfrm>
          <a:prstGeom prst="roundRect">
            <a:avLst>
              <a:gd name="adj" fmla="val 22517"/>
            </a:avLst>
          </a:prstGeom>
          <a:solidFill>
            <a:srgbClr val="B346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063240" y="3218688"/>
            <a:ext cx="822960" cy="512064"/>
          </a:xfrm>
          <a:prstGeom prst="rightArrow">
            <a:avLst/>
          </a:prstGeom>
          <a:solidFill>
            <a:srgbClr val="D8CFC2"/>
          </a:solidFill>
          <a:ln/>
        </p:spPr>
      </p:sp>
      <p:sp>
        <p:nvSpPr>
          <p:cNvPr id="9" name="Shape 7"/>
          <p:cNvSpPr/>
          <p:nvPr/>
        </p:nvSpPr>
        <p:spPr>
          <a:xfrm>
            <a:off x="4069080" y="2560320"/>
            <a:ext cx="3291840" cy="1828800"/>
          </a:xfrm>
          <a:prstGeom prst="roundRect">
            <a:avLst>
              <a:gd name="adj" fmla="val 13673"/>
            </a:avLst>
          </a:prstGeom>
          <a:solidFill>
            <a:srgbClr val="FFE8D1"/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4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32004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|C| = k ?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every C in G ?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rule satisfied 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3218688"/>
            <a:ext cx="822960" cy="512064"/>
          </a:xfrm>
          <a:prstGeom prst="rightArrow">
            <a:avLst/>
          </a:prstGeom>
          <a:solidFill>
            <a:srgbClr val="D8CFC2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560320"/>
            <a:ext cx="2468880" cy="822960"/>
          </a:xfrm>
          <a:prstGeom prst="roundRect">
            <a:avLst>
              <a:gd name="adj" fmla="val 27030"/>
            </a:avLst>
          </a:prstGeom>
          <a:solidFill>
            <a:srgbClr val="EAF4EA"/>
          </a:solidFill>
          <a:ln w="19050">
            <a:solidFill>
              <a:srgbClr val="2F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03920" y="3566160"/>
            <a:ext cx="2468880" cy="822960"/>
          </a:xfrm>
          <a:prstGeom prst="roundRect">
            <a:avLst>
              <a:gd name="adj" fmla="val 34966"/>
            </a:avLst>
          </a:prstGeom>
          <a:solidFill>
            <a:srgbClr val="FBEAEA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above runs once — no backtracking, no retrying, no searching. That single pass is what makes the verifier polynomial-time.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line wins: O(n²) vs. exponential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graph grows from 5 to 30 vertices, watch what happens to the work required.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7498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965960"/>
            <a:ext cx="3246120" cy="1737360"/>
          </a:xfrm>
          <a:prstGeom prst="roundRect">
            <a:avLst>
              <a:gd name="adj" fmla="val 16026"/>
            </a:avLst>
          </a:prstGeom>
          <a:solidFill>
            <a:srgbClr val="241E18"/>
          </a:solidFill>
          <a:ln w="12700">
            <a:solidFill>
              <a:srgbClr val="B34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2423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4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~1.07 billion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41080" y="2926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candidates to search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66760" y="3931920"/>
            <a:ext cx="3246120" cy="1737360"/>
          </a:xfrm>
          <a:prstGeom prst="roundRect">
            <a:avLst>
              <a:gd name="adj" fmla="val 16563"/>
            </a:avLst>
          </a:prstGeom>
          <a:solidFill>
            <a:srgbClr val="E85D04"/>
          </a:solidFill>
          <a:ln/>
        </p:spPr>
      </p:sp>
      <p:sp>
        <p:nvSpPr>
          <p:cNvPr id="11" name="Text 8"/>
          <p:cNvSpPr/>
          <p:nvPr/>
        </p:nvSpPr>
        <p:spPr>
          <a:xfrm>
            <a:off x="864108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4108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900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41080" y="4892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2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the verifier to confirm a certificate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certificate-verification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926080"/>
          </a:xfrm>
          <a:prstGeom prst="roundRect">
            <a:avLst>
              <a:gd name="adj" fmla="val 11436"/>
            </a:avLst>
          </a:prstGeom>
          <a:solidFill>
            <a:srgbClr val="1F191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30552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instance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place vertices &amp; edges, or paste a graph as text / JSON.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081528" y="3191256"/>
            <a:ext cx="219456" cy="292608"/>
          </a:xfrm>
          <a:prstGeom prst="rightArrow">
            <a:avLst/>
          </a:prstGeom>
          <a:solidFill>
            <a:srgbClr val="C9BFB2"/>
          </a:solidFill>
          <a:ln/>
        </p:spPr>
      </p:sp>
      <p:sp>
        <p:nvSpPr>
          <p:cNvPr id="10" name="Shape 8"/>
          <p:cNvSpPr/>
          <p:nvPr/>
        </p:nvSpPr>
        <p:spPr>
          <a:xfrm>
            <a:off x="3319272" y="1874520"/>
            <a:ext cx="2514600" cy="2926080"/>
          </a:xfrm>
          <a:prstGeom prst="roundRect">
            <a:avLst>
              <a:gd name="adj" fmla="val 10694"/>
            </a:avLst>
          </a:prstGeom>
          <a:solidFill>
            <a:srgbClr val="E85D04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2130552"/>
            <a:ext cx="502920" cy="502920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7872" y="34747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2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Clique or Vertex Cover, and set target size k.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219456" cy="292608"/>
          </a:xfrm>
          <a:prstGeom prst="rightArrow">
            <a:avLst/>
          </a:prstGeom>
          <a:solidFill>
            <a:srgbClr val="C9BFB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4" y="1874520"/>
            <a:ext cx="2514600" cy="2926080"/>
          </a:xfrm>
          <a:prstGeom prst="roundRect">
            <a:avLst>
              <a:gd name="adj" fmla="val 10694"/>
            </a:avLst>
          </a:prstGeom>
          <a:solidFill>
            <a:srgbClr val="1F191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8504" y="2130552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a certificate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34747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proposed list of vertex numbers to test.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622792" y="3191256"/>
            <a:ext cx="219456" cy="292608"/>
          </a:xfrm>
          <a:prstGeom prst="rightArrow">
            <a:avLst/>
          </a:prstGeom>
          <a:solidFill>
            <a:srgbClr val="C9BFB2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0536" y="1874520"/>
            <a:ext cx="2514600" cy="2926080"/>
          </a:xfrm>
          <a:prstGeom prst="roundRect">
            <a:avLst>
              <a:gd name="adj" fmla="val 11065"/>
            </a:avLst>
          </a:prstGeom>
          <a:solidFill>
            <a:srgbClr val="E85D04"/>
          </a:solidFill>
          <a:ln/>
        </p:spPr>
      </p:sp>
      <p:sp>
        <p:nvSpPr>
          <p:cNvPr id="23" name="Shape 21"/>
          <p:cNvSpPr/>
          <p:nvPr/>
        </p:nvSpPr>
        <p:spPr>
          <a:xfrm>
            <a:off x="9089136" y="2130552"/>
            <a:ext cx="502920" cy="502920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24" name="Text 22"/>
          <p:cNvSpPr/>
          <p:nvPr/>
        </p:nvSpPr>
        <p:spPr>
          <a:xfrm>
            <a:off x="9089136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through checks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89136" y="34747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2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walks the certificate one comparison at a time, on the live graph.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demonstrate exactly what a certificate verifier is: no search, no backtracking — just a fixed sequence of checks that runs in O(n²).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· SAMPLE INPUTS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certificate accepted, one rejected</a:t>
            </a:r>
          </a:p>
        </p:txBody>
      </p:sp>
      <p:sp>
        <p:nvSpPr>
          <p:cNvPr id="4" name="INPUT 1 · ACCEPTED card"/>
          <p:cNvSpPr/>
          <p:nvPr/>
        </p:nvSpPr>
        <p:spPr>
          <a:xfrm>
            <a:off x="548640" y="1600200"/>
            <a:ext cx="5120640" cy="4663440"/>
          </a:xfrm>
          <a:prstGeom prst="roundRect">
            <a:avLst>
              <a:gd name="adj" fmla="val 3000"/>
            </a:avLst>
          </a:prstGeom>
          <a:solidFill>
            <a:srgbClr val="FFE8D1"/>
          </a:solidFill>
          <a:ln w="15875">
            <a:solidFill>
              <a:srgbClr val="E85D04"/>
            </a:solidFill>
            <a:prstDash val="solid"/>
          </a:ln>
        </p:spPr>
      </p:sp>
      <p:sp>
        <p:nvSpPr>
          <p:cNvPr id="5" name="INPUT 1 · ACCEPTED badge"/>
          <p:cNvSpPr/>
          <p:nvPr/>
        </p:nvSpPr>
        <p:spPr>
          <a:xfrm>
            <a:off x="822960" y="1828800"/>
            <a:ext cx="4572000" cy="420624"/>
          </a:xfrm>
          <a:prstGeom prst="roundRect">
            <a:avLst>
              <a:gd name="adj" fmla="val 20000"/>
            </a:avLst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 · ACCEPTED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Clique, k = 3</a:t>
            </a:r>
          </a:p>
        </p:txBody>
      </p:sp>
      <p:sp>
        <p:nvSpPr>
          <p:cNvPr id="6" name="INPUT 1 · ACCEPTED inputs"/>
          <p:cNvSpPr txBox="1"/>
          <p:nvPr/>
        </p:nvSpPr>
        <p:spPr>
          <a:xfrm>
            <a:off x="822960" y="24003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 </a:t>
            </a:r>
            <a:r>
              <a:rPr lang="en-US" sz="1300" b="1" dirty="0">
                <a:solidFill>
                  <a:srgbClr val="141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1, 2, 3, 4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 </a:t>
            </a:r>
            <a:r>
              <a:rPr lang="en-US" sz="1300" b="1" dirty="0">
                <a:solidFill>
                  <a:srgbClr val="141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1-2, 1-3, 2-3, 3-4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 </a:t>
            </a:r>
            <a:r>
              <a:rPr lang="en-US" sz="1300" b="1" dirty="0">
                <a:solidFill>
                  <a:srgbClr val="141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</a:t>
            </a:r>
          </a:p>
        </p:txBody>
      </p:sp>
      <p:sp>
        <p:nvSpPr>
          <p:cNvPr id="7" name="INPUT 1 · ACCEPTED why label"/>
          <p:cNvSpPr txBox="1"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ACCEPTED</a:t>
            </a:r>
          </a:p>
        </p:txBody>
      </p:sp>
      <p:sp>
        <p:nvSpPr>
          <p:cNvPr id="8" name="INPUT 1 · ACCEPTED why"/>
          <p:cNvSpPr txBox="1"/>
          <p:nvPr/>
        </p:nvSpPr>
        <p:spPr>
          <a:xfrm>
            <a:off x="822960" y="4206240"/>
            <a:ext cx="4572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has a triangle on vertices </a:t>
            </a: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</a:t>
            </a:r>
          </a:p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size is 3, matching </a:t>
            </a: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</a:p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needed edges exist: </a:t>
            </a:r>
            <a:r>
              <a:rPr lang="en-US" sz="15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1-2, 1-3, 2-3</a:t>
            </a:r>
          </a:p>
        </p:txBody>
      </p:sp>
      <p:sp>
        <p:nvSpPr>
          <p:cNvPr id="9" name="INPUT 1 · ACCEPTED verdict"/>
          <p:cNvSpPr/>
          <p:nvPr/>
        </p:nvSpPr>
        <p:spPr>
          <a:xfrm>
            <a:off x="822960" y="562356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ACCEPT</a:t>
            </a:r>
          </a:p>
        </p:txBody>
      </p:sp>
      <p:sp>
        <p:nvSpPr>
          <p:cNvPr id="10" name="INPUT 2 · REJECTED card"/>
          <p:cNvSpPr/>
          <p:nvPr/>
        </p:nvSpPr>
        <p:spPr>
          <a:xfrm>
            <a:off x="6035040" y="1600200"/>
            <a:ext cx="5120640" cy="4663440"/>
          </a:xfrm>
          <a:prstGeom prst="roundRect">
            <a:avLst>
              <a:gd name="adj" fmla="val 3000"/>
            </a:avLst>
          </a:prstGeom>
          <a:solidFill>
            <a:srgbClr val="141210"/>
          </a:solidFill>
          <a:ln w="15875">
            <a:solidFill>
              <a:srgbClr val="E85D04"/>
            </a:solidFill>
            <a:prstDash val="solid"/>
          </a:ln>
        </p:spPr>
      </p:sp>
      <p:sp>
        <p:nvSpPr>
          <p:cNvPr id="11" name="INPUT 2 · REJECTED badge"/>
          <p:cNvSpPr/>
          <p:nvPr/>
        </p:nvSpPr>
        <p:spPr>
          <a:xfrm>
            <a:off x="6309360" y="1828800"/>
            <a:ext cx="4572000" cy="420624"/>
          </a:xfrm>
          <a:prstGeom prst="roundRect">
            <a:avLst>
              <a:gd name="adj" fmla="val 20000"/>
            </a:avLst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 · REJECTED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Clique, k = 4 (different graph)</a:t>
            </a:r>
          </a:p>
        </p:txBody>
      </p:sp>
      <p:sp>
        <p:nvSpPr>
          <p:cNvPr id="12" name="INPUT 2 · REJECTED inputs"/>
          <p:cNvSpPr txBox="1"/>
          <p:nvPr/>
        </p:nvSpPr>
        <p:spPr>
          <a:xfrm>
            <a:off x="6309360" y="24003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1, 2, 3, 4, 5, 6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1-2, 1-3, 1-4, 2-3, 2-4, 3-5, 4-5, 5-6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1, 2, 3, 4</a:t>
            </a:r>
          </a:p>
        </p:txBody>
      </p:sp>
      <p:sp>
        <p:nvSpPr>
          <p:cNvPr id="13" name="INPUT 2 · REJECTED why label"/>
          <p:cNvSpPr txBox="1"/>
          <p:nvPr/>
        </p:nvSpPr>
        <p:spPr>
          <a:xfrm>
            <a:off x="630936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kern="0" spc="1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REJECTED</a:t>
            </a:r>
          </a:p>
        </p:txBody>
      </p:sp>
      <p:sp>
        <p:nvSpPr>
          <p:cNvPr id="14" name="INPUT 2 · REJECTED why"/>
          <p:cNvSpPr txBox="1"/>
          <p:nvPr/>
        </p:nvSpPr>
        <p:spPr>
          <a:xfrm>
            <a:off x="6309360" y="4206240"/>
            <a:ext cx="4572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size is 4, matching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</a:p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all 6 pairs: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1-2, 1-3, 1-4, 2-3, 2-4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present</a:t>
            </a:r>
          </a:p>
          <a:p>
            <a:pPr marL="228600" indent="-228600">
              <a:spcAft>
                <a:spcPts val="500"/>
              </a:spcAft>
              <a:buClr>
                <a:srgbClr val="E85D04"/>
              </a:buClr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</a:t>
            </a: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is MISSING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4-clique fails</a:t>
            </a:r>
          </a:p>
        </p:txBody>
      </p:sp>
      <p:sp>
        <p:nvSpPr>
          <p:cNvPr id="15" name="INPUT 2 · REJECTED verdict"/>
          <p:cNvSpPr/>
          <p:nvPr/>
        </p:nvSpPr>
        <p:spPr>
          <a:xfrm>
            <a:off x="6309360" y="562356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REJECT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950" kern="0" spc="10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/ VERTEX COVER VERIFIER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50" dirty="0">
                <a:solidFill>
                  <a:srgbClr val="B9A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63840" y="4663440"/>
            <a:ext cx="1280160" cy="36576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663440"/>
            <a:ext cx="822960" cy="82296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686800" y="5486400"/>
            <a:ext cx="1280160" cy="36576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029200"/>
            <a:ext cx="822960" cy="82296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5029200"/>
            <a:ext cx="822960" cy="82296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406640" y="5029200"/>
            <a:ext cx="457200" cy="73152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5760720"/>
            <a:ext cx="1280160" cy="91440"/>
          </a:xfrm>
          <a:prstGeom prst="line">
            <a:avLst/>
          </a:prstGeom>
          <a:noFill/>
          <a:ln w="19050">
            <a:solidFill>
              <a:srgbClr val="3A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863840" y="4663440"/>
            <a:ext cx="1280160" cy="3657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663440"/>
            <a:ext cx="822960" cy="8229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686800" y="5486400"/>
            <a:ext cx="1280160" cy="3657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5029200"/>
            <a:ext cx="822960" cy="8229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4968" y="4910328"/>
            <a:ext cx="237744" cy="23774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7744968" y="4910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1814" y="4553712"/>
            <a:ext cx="237744" cy="23774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9025128" y="4544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8088" y="5367528"/>
            <a:ext cx="237744" cy="23774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088" y="5367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67928" y="5733288"/>
            <a:ext cx="237744" cy="237744"/>
          </a:xfrm>
          <a:prstGeom prst="ellipse">
            <a:avLst/>
          </a:prstGeom>
          <a:solidFill>
            <a:srgbClr val="E85D04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8567928" y="5733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24344" y="5678424"/>
            <a:ext cx="164592" cy="164592"/>
          </a:xfrm>
          <a:prstGeom prst="ellipse">
            <a:avLst/>
          </a:prstGeom>
          <a:solidFill>
            <a:srgbClr val="4A4139"/>
          </a:solidFill>
          <a:ln w="22225">
            <a:solidFill>
              <a:srgbClr val="4A4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567842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658368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verifier, the two problems, or the O(n²) bound — happy to walk through the live tool.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493776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PRANAV MOHAN PAUNIKAR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CM24032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PROJECT</a:t>
            </a:r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BB8744-01FA-66DC-3A74-E5C36CBB2D01}"/>
              </a:ext>
            </a:extLst>
          </p:cNvPr>
          <p:cNvSpPr txBox="1"/>
          <p:nvPr/>
        </p:nvSpPr>
        <p:spPr>
          <a:xfrm>
            <a:off x="998375" y="745898"/>
            <a:ext cx="2220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WEBSITE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949</Words>
  <Application>Microsoft Office PowerPoint</Application>
  <PresentationFormat>Widescreen</PresentationFormat>
  <Paragraphs>180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Clique / Vertex Cover Certificate Verifier</dc:title>
  <dc:subject>PptxGenJS Presentation</dc:subject>
  <dc:creator>Pranav Mohan Paunikar</dc:creator>
  <cp:lastModifiedBy>mohan paunikar</cp:lastModifiedBy>
  <cp:revision>3</cp:revision>
  <dcterms:created xsi:type="dcterms:W3CDTF">2026-09-26T00:17:51Z</dcterms:created>
  <dcterms:modified xsi:type="dcterms:W3CDTF">2026-10-08T07:35:39Z</dcterms:modified>
</cp:coreProperties>
</file>